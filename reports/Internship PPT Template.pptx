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4"/>
    <p:sldId id="272" r:id="rId25"/>
  </p:sldIdLst>
  <p:sldSz cx="18288000" cy="102870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" charset="1" panose="02020603050405020304"/>
      <p:regular r:id="rId22"/>
    </p:embeddedFont>
    <p:embeddedFont>
      <p:font typeface="Garamond" charset="1" panose="020204040303010108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7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95169" y="1544831"/>
            <a:ext cx="10618470" cy="146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AI-Powered RAG 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34765" y="4428039"/>
            <a:ext cx="1061847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Muhammed Midlaj P | 23BBCAMR303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Information Technology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Company: Scanntek IT Solutions LLP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Guide: Dr. Kaviyarasi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Guide: Neha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6187" y="914400"/>
            <a:ext cx="1759629" cy="1814055"/>
            <a:chOff x="0" y="0"/>
            <a:chExt cx="2346173" cy="2418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46198" cy="2418715"/>
            </a:xfrm>
            <a:custGeom>
              <a:avLst/>
              <a:gdLst/>
              <a:ahLst/>
              <a:cxnLst/>
              <a:rect r="r" b="b" t="t" l="l"/>
              <a:pathLst>
                <a:path h="2418715" w="2346198">
                  <a:moveTo>
                    <a:pt x="0" y="0"/>
                  </a:moveTo>
                  <a:lnTo>
                    <a:pt x="2346198" y="0"/>
                  </a:lnTo>
                  <a:lnTo>
                    <a:pt x="2346198" y="2418715"/>
                  </a:lnTo>
                  <a:lnTo>
                    <a:pt x="0" y="2418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27444" y="1650016"/>
            <a:ext cx="3802151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AGENDA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3285" y="1025928"/>
            <a:ext cx="1759629" cy="1814055"/>
            <a:chOff x="0" y="0"/>
            <a:chExt cx="2346173" cy="2418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6198" cy="2418715"/>
            </a:xfrm>
            <a:custGeom>
              <a:avLst/>
              <a:gdLst/>
              <a:ahLst/>
              <a:cxnLst/>
              <a:rect r="r" b="b" t="t" l="l"/>
              <a:pathLst>
                <a:path h="2418715" w="2346198">
                  <a:moveTo>
                    <a:pt x="0" y="0"/>
                  </a:moveTo>
                  <a:lnTo>
                    <a:pt x="2346198" y="0"/>
                  </a:lnTo>
                  <a:lnTo>
                    <a:pt x="2346198" y="2418715"/>
                  </a:lnTo>
                  <a:lnTo>
                    <a:pt x="0" y="2418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246120" y="2168261"/>
            <a:ext cx="10789920" cy="747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Introduction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Organization Profile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Learning Modules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Project Implemented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Problem Statement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Objectives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Scope of the Project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Technologies Used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System Architecture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 Methodology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 Implementation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 Progress / Status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75054" y="1290485"/>
            <a:ext cx="4798390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3205" y="2803255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Internship focused on building an enterprise-grade AI-Powered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Retrieval-Augmented Generation (RAG) Chatbot system.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Purpose: Enable organizations to query their own documents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using natural language and receive AI-powered answers with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source citations.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Domain: Artificial Intelligence / Natural Language Processing,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specifically RAG-based conversational AI for enterprise data.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Combines modern full-stack web development with cutting-edge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AI/ML techniques including agentic reasoning, vector search,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and multimodal document understanding.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6029" y="9747628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18988" y="9747628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418" y="1060647"/>
            <a:ext cx="1699574" cy="1752133"/>
            <a:chOff x="0" y="0"/>
            <a:chExt cx="2266099" cy="23361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6061" cy="2336165"/>
            </a:xfrm>
            <a:custGeom>
              <a:avLst/>
              <a:gdLst/>
              <a:ahLst/>
              <a:cxnLst/>
              <a:rect r="r" b="b" t="t" l="l"/>
              <a:pathLst>
                <a:path h="2336165" w="2266061">
                  <a:moveTo>
                    <a:pt x="0" y="0"/>
                  </a:moveTo>
                  <a:lnTo>
                    <a:pt x="2266061" y="0"/>
                  </a:lnTo>
                  <a:lnTo>
                    <a:pt x="2266061" y="2336165"/>
                  </a:lnTo>
                  <a:lnTo>
                    <a:pt x="0" y="2336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2956" y="1427255"/>
            <a:ext cx="14082189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Organization profile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794559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Company Name: Scanntek IT Solutions LLP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Location: Kinfra IT Park, Calicut, Kerala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Industry Domain: Digital Marketing, Web Development &amp; IT Services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Company Type: Product &amp; Service Based (LLP, Inc. Nov 2022)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Description: Scanntek IT Solutions LLP is an active, Kerala-based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Limited Liability Partnership focusing on digital marketing,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branding, web development, and IT services.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Role: Full-Stack AI Developer — Designed and developed the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end-to-end RAG Chatbot platform including backend API,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frontend UI, AI pipeline, and DevOps infrastructure.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2190" y="1089774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0090" y="1494320"/>
            <a:ext cx="168478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LEARNING MODULES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0948" y="2624890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Concepts Learnt: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Retrieval-Augmented Generation (RAG) Architecture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Vector Embeddings &amp; Semantic Search (3072-dim vectors)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Agentic AI — ReAct Loop (Think → Action → Observe)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LLM Prompt Engineering &amp; Chain-of-Thought Reasoning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AI — Vision &amp; Document Understanding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Full-Stack Development with Django &amp; React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Utilized: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LangChain, Qdrant, Google Gemini, Docker, PostgreSQL, Redis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Git/GitHub, VS Code, Postman, Swagger UI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 of Study: 10 Weeks (February – April 2026)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9234" y="1494320"/>
            <a:ext cx="168478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PROJECT(S) IMPLEMENTED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0948" y="2624890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Title: AI-Powered RAG Chatbot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enterprise-grade Retrieval-Augmented Generation chatbot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company database analysis, built with Django REST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and React.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Capabilities: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Chat with SSE-streamed responses &amp; source citations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support (images, PDFs, DOCX, CSV, Markdown)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Agentic semantic search with ReAct reasoning loop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Document collections, tags, and scoped querying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Admin dashboard with usage analytics &amp; metrics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JWT authentication, rate limiting, CSP/HSTS security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Dockerized microservices with CI/CD pipelines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0190" y="1494320"/>
            <a:ext cx="152476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Statement(s)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24890"/>
            <a:ext cx="135331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problem is being solved?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Organizations struggle to extract insights from large volumes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of unstructured documents (PDFs, reports, spreadsheets).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Traditional keyword search fails to understand context and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semantic meaning, returning irrelevant results.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Employees waste hours manually searching through documents.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it important?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Enterprises need instant, accurate, AI-powered answers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grounded in their own data — not generic LLM hallucinations.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ensures responses are factual, cited, and traceable to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source documents, enabling trust and compliance.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09084" y="1494320"/>
            <a:ext cx="8975407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General Objectives: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an AI chatbot that retrieves and reasons over documents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Provide accurate, citation-backed answers via RAG architecture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 multi-format document ingestion (PDF, DOCX, CSV, images)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3072-dim vector search with Qdrant + Gemini Embeddings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Develop an agentic ReAct loop for intelligent query processing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Create a real-time SSE chat interface with React 19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an admin dashboard for usage analytics &amp; user management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 enterprise security: JWT, rate limiting, CSP headers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Containerize the full stack with Docker Compose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90946" y="1471974"/>
            <a:ext cx="16010239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 of the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the project covers: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Full-stack web application (Django + React)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AI/ML pipeline: ingestion → embedding → retrieval → generation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RAG: text documents + image understanding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Role-based access control (Admin, Editor, Viewer)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CI/CD pipelines with GitHub Actions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Dockerized microservices architecture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Depends on Google Gemini API (cloud-based, requires API key)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Not designed for real-time collaborative document editing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Maximum context window constrained by LLM token limits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98634" y="1262691"/>
            <a:ext cx="17290732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7360920" cy="475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Python 3.11, TypeScript 5, SQL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Django 5, DRF, React 19, Vite 7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Tailwind CSS 4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Google Gemini 2.5 Flash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Gemini Embedding 2.0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LangChain 0.3+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PostgreSQL 15, Qdrant, Redis 7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Docker, GitHub Actions CI/CD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0" y="2005641"/>
            <a:ext cx="7269480" cy="7269480"/>
            <a:chOff x="0" y="0"/>
            <a:chExt cx="9692640" cy="9692640"/>
          </a:xfrm>
        </p:grpSpPr>
        <p:sp>
          <p:nvSpPr>
            <p:cNvPr name="Freeform 21" id="21" descr="image.jpg"/>
            <p:cNvSpPr/>
            <p:nvPr/>
          </p:nvSpPr>
          <p:spPr>
            <a:xfrm flipH="false" flipV="false" rot="0">
              <a:off x="0" y="0"/>
              <a:ext cx="9692640" cy="9692640"/>
            </a:xfrm>
            <a:custGeom>
              <a:avLst/>
              <a:gdLst/>
              <a:ahLst/>
              <a:cxnLst/>
              <a:rect r="r" b="b" t="t" l="l"/>
              <a:pathLst>
                <a:path h="9692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692640"/>
                  </a:lnTo>
                  <a:lnTo>
                    <a:pt x="0" y="969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" y="1259805"/>
            <a:ext cx="16876395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6675120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Layered microservices architecture: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Frontend → Backend API →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App Modules → Storage Layer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Pipeline: Ingest → Embed →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Store → Retrieve → Generate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95485" y="1752600"/>
            <a:ext cx="7543800" cy="7543800"/>
            <a:chOff x="0" y="0"/>
            <a:chExt cx="10058400" cy="10058400"/>
          </a:xfrm>
        </p:grpSpPr>
        <p:sp>
          <p:nvSpPr>
            <p:cNvPr name="Freeform 21" id="21" descr="image.jpg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0"/>
                  </a:lnTo>
                  <a:lnTo>
                    <a:pt x="0" y="1005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268104" y="1265501"/>
            <a:ext cx="11311414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6675120" cy="537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Process: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Agile (5 Sprints × 2 Weeks)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1 — Requirements, setup,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DB schema design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2 — RAG pipeline (ingest,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embed, vector storage)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3 — Agentic reasoning,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multimodal support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4 — Dashboard, analytics,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auth &amp; security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5 — Docker, CI/CD, testing,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optimization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45436" y="1866252"/>
            <a:ext cx="7296798" cy="7296798"/>
            <a:chOff x="0" y="0"/>
            <a:chExt cx="10607040" cy="10607040"/>
          </a:xfrm>
        </p:grpSpPr>
        <p:sp>
          <p:nvSpPr>
            <p:cNvPr name="Freeform 21" id="21" descr="image.jpg"/>
            <p:cNvSpPr/>
            <p:nvPr/>
          </p:nvSpPr>
          <p:spPr>
            <a:xfrm flipH="false" flipV="false" rot="0">
              <a:off x="0" y="0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596315"/>
            <a:ext cx="7360920" cy="68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9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Modules Implemented: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Document Management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Upload PDF, DOCX, CSV, images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with auto-chunking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RAG Pipeline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LangChain + Qdrant + Gemini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Agentic Search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ReAct: Think → Action → Observe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Multimodal AI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Gemini Vision for images/charts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Real-time Chat (SSE streaming)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Admin Dashboard &amp; Analytics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JWT Auth &amp; Security Layer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Docker &amp; CI/CD Pipeline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6153" y="2213738"/>
            <a:ext cx="9829800" cy="6518959"/>
            <a:chOff x="0" y="0"/>
            <a:chExt cx="13106400" cy="8691946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3106400" cy="8691946"/>
            </a:xfrm>
            <a:custGeom>
              <a:avLst/>
              <a:gdLst/>
              <a:ahLst/>
              <a:cxnLst/>
              <a:rect r="r" b="b" t="t" l="l"/>
              <a:pathLst>
                <a:path h="8691946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8691946"/>
                  </a:lnTo>
                  <a:lnTo>
                    <a:pt x="0" y="8691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595" t="0" r="-16595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 STATUS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596315"/>
            <a:ext cx="6675120" cy="707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9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Completion: 75%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Milestones Achieved: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Full RAG pipeline with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agentic reasoning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Multimodal document &amp;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image processing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Complete frontend (Dashboard,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Chat, Documents, History)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JWT auth &amp; role-based access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Docker &amp; CI/CD pipelines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Performance optimization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Advanced analytics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Cloud deployment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82011" y="2355679"/>
            <a:ext cx="9863942" cy="5908745"/>
            <a:chOff x="0" y="0"/>
            <a:chExt cx="10840858" cy="649394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840858" cy="6493942"/>
            </a:xfrm>
            <a:custGeom>
              <a:avLst/>
              <a:gdLst/>
              <a:ahLst/>
              <a:cxnLst/>
              <a:rect r="r" b="b" t="t" l="l"/>
              <a:pathLst>
                <a:path h="6493942" w="10840858">
                  <a:moveTo>
                    <a:pt x="0" y="0"/>
                  </a:moveTo>
                  <a:lnTo>
                    <a:pt x="10840858" y="0"/>
                  </a:lnTo>
                  <a:lnTo>
                    <a:pt x="10840858" y="6493942"/>
                  </a:lnTo>
                  <a:lnTo>
                    <a:pt x="0" y="6493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4" t="0" r="-404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93257" y="1420016"/>
            <a:ext cx="8975407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Successfully designed and developed an enterprise-grade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AI-Powered RAG Chatbot enabling natural language querying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of company documents with cited, accurate responses.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Implemented cutting-edge techniques: agentic ReAct reasoning,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3072-dimensional vector search, multimodal AI, and SSE streaming.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Built a production-ready, containerized full-stack application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with React frontend, Django backend, and intelligent RAG pipeline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powered by Google Gemini.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Outcome: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The system demonstrates significant improvement in document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retrieval accuracy over traditional keyword search methods,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making enterprise knowledge instantly accessible through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natural conversation.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en-US" dirty="0" b="1" sz="3000">
                <a:solidFill>
                  <a:srgbClr val="000000"/>
                </a:solidFill>
                <a:latin typeface="+mj-lt"/>
              </a:rPr>
              <a:t>Implementations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596315"/>
            <a:ext cx="7360920" cy="68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en-US" dirty="0" b="1" sz="1950">
                <a:solidFill>
                  <a:srgbClr val="000000"/>
                </a:solidFill>
                <a:latin typeface="+mj-lt"/>
              </a:rPr>
              <a:t>Key Implementation Highlights:</a:t>
            </a:r>
          </a:p>
          <a:p/>
          <a:p>
            <a:r>
              <a:rPr lang="en-US" dirty="0" b="1" sz="1800">
                <a:solidFill>
                  <a:srgbClr val="000000"/>
                </a:solidFill>
                <a:latin typeface="+mj-lt"/>
              </a:rPr>
              <a:t>1.  RAG Pipeline  (rag_chain.py)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Agentic ReAct loop — max 3 iterations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SSE token-by-token streaming to UI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LLM retry on 429 with exponential backoff</a:t>
            </a:r>
          </a:p>
          <a:p/>
          <a:p>
            <a:r>
              <a:rPr lang="en-US" dirty="0" b="1" sz="1800">
                <a:solidFill>
                  <a:srgbClr val="000000"/>
                </a:solidFill>
                <a:latin typeface="+mj-lt"/>
              </a:rPr>
              <a:t>2.  Vector Store  (vector_store.py)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Qdrant with 3072-dim Gemini embeddings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Hybrid semantic + metadata-scoped search</a:t>
            </a:r>
          </a:p>
          <a:p/>
          <a:p>
            <a:r>
              <a:rPr lang="en-US" dirty="0" b="1" sz="1800">
                <a:solidFill>
                  <a:srgbClr val="000000"/>
                </a:solidFill>
                <a:latin typeface="+mj-lt"/>
              </a:rPr>
              <a:t>3.  Document Ingestion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PDF / DOCX / CSV / Image auto-chunking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Gemini Vision for charts &amp; images</a:t>
            </a:r>
          </a:p>
          <a:p/>
          <a:p>
            <a:r>
              <a:rPr lang="en-US" dirty="0" b="1" sz="1800">
                <a:solidFill>
                  <a:srgbClr val="000000"/>
                </a:solidFill>
                <a:latin typeface="+mj-lt"/>
              </a:rPr>
              <a:t>4.  Real-Time Chat  (SSE Streaming)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Thought / Answer stream split to frontend</a:t>
            </a:r>
          </a:p>
          <a:p>
            <a:r>
              <a:rPr lang="en-US" dirty="0" sz="1700">
                <a:solidFill>
                  <a:srgbClr val="000000"/>
                </a:solidFill>
                <a:latin typeface="+mj-lt"/>
              </a:rPr>
              <a:t>    •  JWT auth + role-based session isolation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6153" y="2213738"/>
            <a:ext cx="9829800" cy="6518959"/>
            <a:chOff x="0" y="0"/>
            <a:chExt cx="13106400" cy="8691946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3106400" cy="8691946"/>
            </a:xfrm>
            <a:custGeom>
              <a:avLst/>
              <a:gdLst/>
              <a:ahLst/>
              <a:cxnLst/>
              <a:rect r="r" b="b" t="t" l="l"/>
              <a:pathLst>
                <a:path h="8691946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8691946"/>
                  </a:lnTo>
                  <a:lnTo>
                    <a:pt x="0" y="8691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595" t="0" r="-16595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en-US" dirty="0" b="1" sz="3000">
                <a:solidFill>
                  <a:srgbClr val="000000"/>
                </a:solidFill>
                <a:latin typeface="+mj-lt"/>
              </a:rPr>
              <a:t>Test Cases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920240" y="2514600"/>
          <a:ext cx="123444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3474720"/>
                <a:gridCol w="4389120"/>
                <a:gridCol w="1097280"/>
              </a:tblGrid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TC-ID</a:t>
                      </a:r>
                    </a:p>
                  </a:txBody>
                  <a:tcPr>
                    <a:solidFill>
                      <a:srgbClr val="1A1A2E"/>
                    </a:solidFill>
                    <a:lnL w="12700" cap="flat" cmpd="sng">
                      <a:solidFill>
                        <a:srgbClr val="00C4CC"/>
                      </a:solidFill>
                    </a:lnL>
                    <a:lnR w="12700" cap="flat" cmpd="sng">
                      <a:solidFill>
                        <a:srgbClr val="00C4CC"/>
                      </a:solidFill>
                    </a:lnR>
                    <a:lnT w="12700" cap="flat" cmpd="sng">
                      <a:solidFill>
                        <a:srgbClr val="00C4CC"/>
                      </a:solidFill>
                    </a:lnT>
                    <a:lnB w="12700" cap="flat" cmpd="sng">
                      <a:solidFill>
                        <a:srgbClr val="00C4C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Test Case Description</a:t>
                      </a:r>
                    </a:p>
                  </a:txBody>
                  <a:tcPr>
                    <a:solidFill>
                      <a:srgbClr val="1A1A2E"/>
                    </a:solidFill>
                    <a:lnL w="12700" cap="flat" cmpd="sng">
                      <a:solidFill>
                        <a:srgbClr val="00C4CC"/>
                      </a:solidFill>
                    </a:lnL>
                    <a:lnR w="12700" cap="flat" cmpd="sng">
                      <a:solidFill>
                        <a:srgbClr val="00C4CC"/>
                      </a:solidFill>
                    </a:lnR>
                    <a:lnT w="12700" cap="flat" cmpd="sng">
                      <a:solidFill>
                        <a:srgbClr val="00C4CC"/>
                      </a:solidFill>
                    </a:lnT>
                    <a:lnB w="12700" cap="flat" cmpd="sng">
                      <a:solidFill>
                        <a:srgbClr val="00C4C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Test Steps (Summary)</a:t>
                      </a:r>
                    </a:p>
                  </a:txBody>
                  <a:tcPr>
                    <a:solidFill>
                      <a:srgbClr val="1A1A2E"/>
                    </a:solidFill>
                    <a:lnL w="12700" cap="flat" cmpd="sng">
                      <a:solidFill>
                        <a:srgbClr val="00C4CC"/>
                      </a:solidFill>
                    </a:lnL>
                    <a:lnR w="12700" cap="flat" cmpd="sng">
                      <a:solidFill>
                        <a:srgbClr val="00C4CC"/>
                      </a:solidFill>
                    </a:lnR>
                    <a:lnT w="12700" cap="flat" cmpd="sng">
                      <a:solidFill>
                        <a:srgbClr val="00C4CC"/>
                      </a:solidFill>
                    </a:lnT>
                    <a:lnB w="12700" cap="flat" cmpd="sng">
                      <a:solidFill>
                        <a:srgbClr val="00C4C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1A1A2E"/>
                    </a:solidFill>
                    <a:lnL w="12700" cap="flat" cmpd="sng">
                      <a:solidFill>
                        <a:srgbClr val="00C4CC"/>
                      </a:solidFill>
                    </a:lnL>
                    <a:lnR w="12700" cap="flat" cmpd="sng">
                      <a:solidFill>
                        <a:srgbClr val="00C4CC"/>
                      </a:solidFill>
                    </a:lnR>
                    <a:lnT w="12700" cap="flat" cmpd="sng">
                      <a:solidFill>
                        <a:srgbClr val="00C4CC"/>
                      </a:solidFill>
                    </a:lnT>
                    <a:lnB w="12700" cap="flat" cmpd="sng">
                      <a:solidFill>
                        <a:srgbClr val="00C4C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A1A2E"/>
                    </a:solidFill>
                    <a:lnL w="12700" cap="flat" cmpd="sng">
                      <a:solidFill>
                        <a:srgbClr val="00C4CC"/>
                      </a:solidFill>
                    </a:lnL>
                    <a:lnR w="12700" cap="flat" cmpd="sng">
                      <a:solidFill>
                        <a:srgbClr val="00C4CC"/>
                      </a:solidFill>
                    </a:lnR>
                    <a:lnT w="12700" cap="flat" cmpd="sng">
                      <a:solidFill>
                        <a:srgbClr val="00C4CC"/>
                      </a:solidFill>
                    </a:lnT>
                    <a:lnB w="12700" cap="flat" cmpd="sng">
                      <a:solidFill>
                        <a:srgbClr val="00C4CC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TC-01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Document Upload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Upload a PDF via /api/documents/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File chunked &amp; vectors stored in Qdrant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RAG Query Response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Send query 'What is our leave policy?'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Cited answer returned with source references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TC-03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Agentic Search Loop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Submit complex multi-step question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Answer produced in ≤ 3 ReAct iterations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JWT Authentication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Call API with an expired/invalid token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401 Unauthorized returned immediately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TC-05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SSE Streaming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Open chat and send a message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Tokens streamed in real-time to browser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Rate Limit Retry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Simulate 429 from Gemini API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Exponential backoff + auto-retry succeeds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TC-07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Multimodal Image Upload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Upload a PNG chart image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Gemini Vision extracts &amp; indexes content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0FDFD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C4CC"/>
                          </a:solidFill>
                        </a:rPr>
                        <a:t>TC-08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Collection Scoping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Query within a specific document collection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1A1A1A"/>
                          </a:solidFill>
                        </a:rPr>
                        <a:t>Results limited to that collection only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09664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CCF0F2"/>
                      </a:solidFill>
                    </a:lnL>
                    <a:lnR w="6350" cap="flat" cmpd="sng">
                      <a:solidFill>
                        <a:srgbClr val="CCF0F2"/>
                      </a:solidFill>
                    </a:lnR>
                    <a:lnT w="6350" cap="flat" cmpd="sng">
                      <a:solidFill>
                        <a:srgbClr val="CCF0F2"/>
                      </a:solidFill>
                    </a:lnT>
                    <a:lnB w="6350" cap="flat" cmpd="sng">
                      <a:solidFill>
                        <a:srgbClr val="CCF0F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DAHGFNpnjcc</dc:identifier>
  <dcterms:modified xsi:type="dcterms:W3CDTF">2011-08-01T06:04:30Z</dcterms:modified>
  <cp:revision>1</cp:revision>
  <dc:title>Internship PPT Template.pptx</dc:title>
</cp:coreProperties>
</file>